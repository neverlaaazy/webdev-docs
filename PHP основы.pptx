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60" r:id="rId1"/>
  </p:sldMasterIdLst>
  <p:notesMasterIdLst>
    <p:notesMasterId r:id="rId47"/>
  </p:notesMasterIdLst>
  <p:sldIdLst>
    <p:sldId id="256" r:id="rId2"/>
    <p:sldId id="315" r:id="rId3"/>
    <p:sldId id="326" r:id="rId4"/>
    <p:sldId id="257" r:id="rId5"/>
    <p:sldId id="258" r:id="rId6"/>
    <p:sldId id="325" r:id="rId7"/>
    <p:sldId id="259" r:id="rId8"/>
    <p:sldId id="260" r:id="rId9"/>
    <p:sldId id="261" r:id="rId10"/>
    <p:sldId id="262" r:id="rId11"/>
    <p:sldId id="263" r:id="rId12"/>
    <p:sldId id="265" r:id="rId13"/>
    <p:sldId id="266" r:id="rId14"/>
    <p:sldId id="267" r:id="rId15"/>
    <p:sldId id="268" r:id="rId16"/>
    <p:sldId id="269" r:id="rId17"/>
    <p:sldId id="270" r:id="rId18"/>
    <p:sldId id="279" r:id="rId19"/>
    <p:sldId id="271" r:id="rId20"/>
    <p:sldId id="327" r:id="rId21"/>
    <p:sldId id="272" r:id="rId22"/>
    <p:sldId id="273" r:id="rId23"/>
    <p:sldId id="274" r:id="rId24"/>
    <p:sldId id="275" r:id="rId25"/>
    <p:sldId id="276" r:id="rId26"/>
    <p:sldId id="278" r:id="rId27"/>
    <p:sldId id="286" r:id="rId28"/>
    <p:sldId id="285" r:id="rId29"/>
    <p:sldId id="288" r:id="rId30"/>
    <p:sldId id="289" r:id="rId31"/>
    <p:sldId id="291" r:id="rId32"/>
    <p:sldId id="292" r:id="rId33"/>
    <p:sldId id="293" r:id="rId34"/>
    <p:sldId id="328" r:id="rId35"/>
    <p:sldId id="294" r:id="rId36"/>
    <p:sldId id="298" r:id="rId37"/>
    <p:sldId id="300" r:id="rId38"/>
    <p:sldId id="306" r:id="rId39"/>
    <p:sldId id="308" r:id="rId40"/>
    <p:sldId id="309" r:id="rId41"/>
    <p:sldId id="310" r:id="rId42"/>
    <p:sldId id="311" r:id="rId43"/>
    <p:sldId id="312" r:id="rId44"/>
    <p:sldId id="313" r:id="rId45"/>
    <p:sldId id="314" r:id="rId4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2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208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15FAD7-00EB-4D38-A508-4BA8C115BBCA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6677D-7B2A-4476-BC5A-774F6D7AA2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8102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F6677D-7B2A-4476-BC5A-774F6D7AA29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6711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CA04A-1C3F-4D0C-AAC5-DF5FF19CAC57}" type="datetime1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557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0826-3431-4B48-8E1F-112676DB84EA}" type="datetime1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4603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4E22A-6056-4D2A-8208-D6593D84DA7A}" type="datetime1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3041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C676-3BA8-4873-850F-20BFFF8D4F5C}" type="datetime1">
              <a:rPr lang="ru-RU" smtClean="0"/>
              <a:t>03.09.2025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448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0FE69-3868-4DE6-8C3E-8313714059E5}" type="datetime1">
              <a:rPr lang="ru-RU" smtClean="0"/>
              <a:t>03.09.2025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652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AA5C2-C2F1-494C-B2E5-70EFB6FEB9F3}" type="datetime1">
              <a:rPr lang="ru-RU" smtClean="0"/>
              <a:t>03.09.2025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1905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F68C4-E926-4329-96D3-609F202CC70E}" type="datetime1">
              <a:rPr lang="ru-RU" smtClean="0"/>
              <a:t>03.09.2025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7710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CC3A-F8EC-4B88-8BD5-702EF01A2511}" type="datetime1">
              <a:rPr lang="ru-RU" smtClean="0"/>
              <a:t>03.09.2025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513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FB635-C9AF-46A7-ACAA-2073390F9ED1}" type="datetime1">
              <a:rPr lang="ru-RU" smtClean="0"/>
              <a:t>03.09.2025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9304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812C2-742E-4CAB-AFD5-15216B502FD0}" type="datetime1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997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E0DD8-A90A-461D-92BF-233AE5751416}" type="datetime1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4640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30422-ABF0-410C-908D-140ECE3CEF7B}" type="datetime1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81884C-2C20-42F2-AA6E-EB4A1B84A49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1117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Основы </a:t>
            </a:r>
            <a:r>
              <a:rPr lang="en-US" b="1" dirty="0" smtClean="0"/>
              <a:t>PHP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5184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 smtClean="0"/>
              <a:t>Инструментальные средства</a:t>
            </a:r>
            <a:endParaRPr lang="ru-RU" sz="40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Apache HTTP</a:t>
            </a:r>
            <a:r>
              <a:rPr lang="ru-RU" dirty="0" smtClean="0"/>
              <a:t>-сервер</a:t>
            </a:r>
            <a:endParaRPr lang="en-US" dirty="0" smtClean="0"/>
          </a:p>
          <a:p>
            <a:r>
              <a:rPr lang="ru-RU" dirty="0"/>
              <a:t>И</a:t>
            </a:r>
            <a:r>
              <a:rPr lang="ru-RU" dirty="0" smtClean="0"/>
              <a:t>нтерпретатор скриптов </a:t>
            </a:r>
            <a:r>
              <a:rPr lang="en-US" dirty="0" smtClean="0"/>
              <a:t> PHP</a:t>
            </a:r>
          </a:p>
          <a:p>
            <a:r>
              <a:rPr lang="ru-RU" dirty="0"/>
              <a:t>С</a:t>
            </a:r>
            <a:r>
              <a:rPr lang="ru-RU" dirty="0" smtClean="0"/>
              <a:t>ервер баз данных и СУБД</a:t>
            </a:r>
            <a:r>
              <a:rPr lang="en-US" dirty="0" smtClean="0"/>
              <a:t> </a:t>
            </a:r>
            <a:r>
              <a:rPr lang="en-US" dirty="0" err="1" smtClean="0"/>
              <a:t>MySQL</a:t>
            </a:r>
            <a:endParaRPr lang="ru-RU" dirty="0" smtClean="0"/>
          </a:p>
          <a:p>
            <a:r>
              <a:rPr lang="en-US" dirty="0" smtClean="0"/>
              <a:t>FTP-</a:t>
            </a:r>
            <a:r>
              <a:rPr lang="ru-RU" dirty="0" smtClean="0"/>
              <a:t>сервер </a:t>
            </a:r>
            <a:endParaRPr lang="en-US" dirty="0" smtClean="0"/>
          </a:p>
          <a:p>
            <a:r>
              <a:rPr lang="en-US" dirty="0" smtClean="0"/>
              <a:t>POP3/SMTP </a:t>
            </a:r>
            <a:r>
              <a:rPr lang="ru-RU" dirty="0" smtClean="0"/>
              <a:t>сервер</a:t>
            </a:r>
          </a:p>
          <a:p>
            <a:r>
              <a:rPr lang="ru-RU" dirty="0"/>
              <a:t>У</a:t>
            </a:r>
            <a:r>
              <a:rPr lang="ru-RU" dirty="0" smtClean="0"/>
              <a:t>тилиту </a:t>
            </a:r>
            <a:r>
              <a:rPr lang="en-US" dirty="0" err="1" smtClean="0"/>
              <a:t>phpMyAdmin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ru-RU" dirty="0" smtClean="0"/>
          </a:p>
          <a:p>
            <a:endParaRPr lang="ru-RU" dirty="0" smtClean="0"/>
          </a:p>
          <a:p>
            <a:pPr>
              <a:buNone/>
            </a:pPr>
            <a:r>
              <a:rPr lang="ru-RU" dirty="0" smtClean="0"/>
              <a:t>Пакеты </a:t>
            </a:r>
            <a:r>
              <a:rPr lang="en-US" dirty="0" err="1" smtClean="0"/>
              <a:t>OpenServer</a:t>
            </a:r>
            <a:r>
              <a:rPr lang="en-US" dirty="0" smtClean="0"/>
              <a:t>, XAMPP, UWAMP</a:t>
            </a: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515350" cy="1325563"/>
          </a:xfrm>
        </p:spPr>
        <p:txBody>
          <a:bodyPr>
            <a:normAutofit/>
          </a:bodyPr>
          <a:lstStyle/>
          <a:p>
            <a:r>
              <a:rPr lang="ru-RU" sz="4000" b="1" dirty="0" err="1" smtClean="0"/>
              <a:t>Нативный</a:t>
            </a:r>
            <a:r>
              <a:rPr lang="ru-RU" sz="4000" b="1" dirty="0" smtClean="0"/>
              <a:t> (встроенный) сервер </a:t>
            </a:r>
            <a:r>
              <a:rPr lang="en-US" sz="4000" b="1" dirty="0" smtClean="0"/>
              <a:t>PHP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Начиная с версии </a:t>
            </a:r>
            <a:r>
              <a:rPr lang="en-US" dirty="0" smtClean="0"/>
              <a:t>PHP 5.4 </a:t>
            </a:r>
            <a:r>
              <a:rPr lang="ru-RU" dirty="0" smtClean="0"/>
              <a:t>есть возможность пользоваться встроенными сервером, не разворачивая локальный сервер или не используя хостинг.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0048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 smtClean="0"/>
              <a:t>Немного истории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РНР</a:t>
            </a:r>
            <a:r>
              <a:rPr lang="ru-RU" dirty="0"/>
              <a:t> — это серверный язык создания </a:t>
            </a:r>
            <a:r>
              <a:rPr lang="ru-RU" dirty="0" smtClean="0"/>
              <a:t>сценариев, </a:t>
            </a:r>
            <a:r>
              <a:rPr lang="ru-RU" dirty="0"/>
              <a:t>разработанный специально для </a:t>
            </a:r>
            <a:r>
              <a:rPr lang="ru-RU" dirty="0" err="1"/>
              <a:t>Web</a:t>
            </a:r>
            <a:r>
              <a:rPr lang="ru-RU" dirty="0"/>
              <a:t>. 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Разработка </a:t>
            </a:r>
            <a:r>
              <a:rPr lang="ru-RU" dirty="0"/>
              <a:t>РНР была начата в 1994 г. и вначале выполнялась одним человеком, </a:t>
            </a:r>
            <a:r>
              <a:rPr lang="ru-RU" dirty="0" err="1"/>
              <a:t>Расмусом</a:t>
            </a:r>
            <a:r>
              <a:rPr lang="ru-RU" dirty="0"/>
              <a:t> </a:t>
            </a:r>
            <a:r>
              <a:rPr lang="ru-RU" dirty="0" err="1"/>
              <a:t>Лердорфом</a:t>
            </a:r>
            <a:r>
              <a:rPr lang="ru-RU" dirty="0"/>
              <a:t> (</a:t>
            </a:r>
            <a:r>
              <a:rPr lang="ru-RU" dirty="0" err="1"/>
              <a:t>Rasmus</a:t>
            </a:r>
            <a:r>
              <a:rPr lang="ru-RU" dirty="0"/>
              <a:t> </a:t>
            </a:r>
            <a:r>
              <a:rPr lang="ru-RU" dirty="0" err="1"/>
              <a:t>Lerdorf</a:t>
            </a:r>
            <a:r>
              <a:rPr lang="ru-RU" dirty="0"/>
              <a:t>). </a:t>
            </a:r>
            <a:endParaRPr lang="en-US" dirty="0" smtClean="0"/>
          </a:p>
          <a:p>
            <a:pPr marL="0" indent="0">
              <a:buNone/>
            </a:pPr>
            <a:r>
              <a:rPr lang="ru-RU" b="1" dirty="0" smtClean="0"/>
              <a:t>РНР</a:t>
            </a:r>
            <a:r>
              <a:rPr lang="ru-RU" dirty="0" smtClean="0"/>
              <a:t> </a:t>
            </a:r>
            <a:r>
              <a:rPr lang="ru-RU" dirty="0"/>
              <a:t>— это продукт с открытым исходным кодом (</a:t>
            </a:r>
            <a:r>
              <a:rPr lang="ru-RU" dirty="0" err="1"/>
              <a:t>Open</a:t>
            </a:r>
            <a:r>
              <a:rPr lang="ru-RU" dirty="0"/>
              <a:t> </a:t>
            </a:r>
            <a:r>
              <a:rPr lang="ru-RU" dirty="0" err="1"/>
              <a:t>Source</a:t>
            </a:r>
            <a:r>
              <a:rPr lang="ru-RU" dirty="0"/>
              <a:t>).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696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 smtClean="0"/>
              <a:t>Что означает </a:t>
            </a:r>
            <a:r>
              <a:rPr lang="en-US" sz="4000" b="1" dirty="0" smtClean="0"/>
              <a:t>PHP</a:t>
            </a:r>
            <a:r>
              <a:rPr lang="ru-RU" sz="4000" b="1" dirty="0" smtClean="0"/>
              <a:t>?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/>
              <a:t>РНР = </a:t>
            </a:r>
            <a:r>
              <a:rPr lang="ru-RU" sz="3200" dirty="0" err="1"/>
              <a:t>Personal</a:t>
            </a:r>
            <a:r>
              <a:rPr lang="ru-RU" sz="3200" dirty="0"/>
              <a:t> </a:t>
            </a:r>
            <a:r>
              <a:rPr lang="ru-RU" sz="3200" dirty="0" err="1"/>
              <a:t>Home</a:t>
            </a:r>
            <a:r>
              <a:rPr lang="ru-RU" sz="3200" dirty="0"/>
              <a:t> </a:t>
            </a:r>
            <a:r>
              <a:rPr lang="ru-RU" sz="3200" dirty="0" err="1"/>
              <a:t>Page</a:t>
            </a:r>
            <a:r>
              <a:rPr lang="ru-RU" sz="3200" dirty="0"/>
              <a:t> (Персональная начальная </a:t>
            </a:r>
            <a:r>
              <a:rPr lang="ru-RU" sz="3200" dirty="0" smtClean="0"/>
              <a:t>страница</a:t>
            </a:r>
            <a:r>
              <a:rPr lang="ru-RU" sz="3200" dirty="0" smtClean="0"/>
              <a:t>)</a:t>
            </a:r>
          </a:p>
          <a:p>
            <a:pPr marL="0" indent="0">
              <a:buNone/>
            </a:pPr>
            <a:endParaRPr lang="ru-RU" sz="3200" dirty="0"/>
          </a:p>
          <a:p>
            <a:pPr marL="0" indent="0">
              <a:buNone/>
            </a:pPr>
            <a:r>
              <a:rPr lang="ru-RU" sz="3200" dirty="0"/>
              <a:t>РНР = </a:t>
            </a:r>
            <a:r>
              <a:rPr lang="en-US" sz="3200" dirty="0" smtClean="0"/>
              <a:t>PHP:</a:t>
            </a:r>
            <a:r>
              <a:rPr lang="ru-RU" sz="3200" dirty="0" err="1" smtClean="0"/>
              <a:t>Hypertext</a:t>
            </a:r>
            <a:r>
              <a:rPr lang="ru-RU" sz="3200" dirty="0" smtClean="0"/>
              <a:t> </a:t>
            </a:r>
            <a:r>
              <a:rPr lang="ru-RU" sz="3200" dirty="0" err="1"/>
              <a:t>Preprocessor</a:t>
            </a:r>
            <a:r>
              <a:rPr lang="ru-RU" sz="3200" dirty="0"/>
              <a:t> (Препроцессор гипертекста РНР)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65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Версии </a:t>
            </a:r>
            <a:r>
              <a:rPr lang="en-US" b="1" dirty="0" smtClean="0"/>
              <a:t>PHP 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Последняя </a:t>
            </a:r>
            <a:r>
              <a:rPr lang="en-US" dirty="0" smtClean="0"/>
              <a:t>PHP 8.2 </a:t>
            </a:r>
            <a:endParaRPr lang="ru-RU" dirty="0" smtClean="0"/>
          </a:p>
          <a:p>
            <a:r>
              <a:rPr lang="ru-RU" dirty="0" smtClean="0"/>
              <a:t>От версии к версии появляются новые возможности и устраняются уязвимости.</a:t>
            </a:r>
            <a:endParaRPr lang="en-US" dirty="0" smtClean="0"/>
          </a:p>
          <a:p>
            <a:r>
              <a:rPr lang="ru-RU" dirty="0" smtClean="0"/>
              <a:t>Также увеличивается производительность </a:t>
            </a:r>
          </a:p>
          <a:p>
            <a:endParaRPr lang="ru-RU" dirty="0"/>
          </a:p>
          <a:p>
            <a:r>
              <a:rPr lang="ru-RU" dirty="0" smtClean="0"/>
              <a:t>Узнать версию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&lt;?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phpinfo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 ?&gt;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5278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Дескрипторы </a:t>
            </a:r>
            <a:r>
              <a:rPr lang="en-US" b="1" dirty="0" smtClean="0"/>
              <a:t>PHP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&lt;?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"&lt;p&gt;Привет!!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&lt;/p&gt;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"; ?&gt;</a:t>
            </a:r>
          </a:p>
          <a:p>
            <a:pPr marL="0" indent="0">
              <a:buNone/>
            </a:pP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&lt;?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echo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"&lt;p&gt;Привет!!&lt;/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&gt;"; ?&gt;</a:t>
            </a:r>
          </a:p>
          <a:p>
            <a:pPr marL="0" indent="0">
              <a:buNone/>
            </a:pP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&lt;SCRIPT LANGUAGE='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'&gt; echo "&lt;p&gt;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Привет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!!&lt;/p&gt;"; &lt;/SCRIPT&gt;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&lt;%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"&lt;p&gt;Привет!!&lt;/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&gt;"; %&gt;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369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0780" y="251992"/>
            <a:ext cx="7886700" cy="1325563"/>
          </a:xfrm>
        </p:spPr>
        <p:txBody>
          <a:bodyPr/>
          <a:lstStyle/>
          <a:p>
            <a:r>
              <a:rPr lang="ru-RU" b="1" dirty="0" smtClean="0"/>
              <a:t>Комментарии</a:t>
            </a:r>
            <a:endParaRPr lang="ru-RU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70780" y="2131553"/>
            <a:ext cx="8401616" cy="3739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&lt;?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php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Это однострочный комментарий в стиле С++ 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/*   Это многострочный комментарий.  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Здесь можно написать несколько строк.  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При исполнении программы все, что находится здесь,  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будет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игнорировано.  */ 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Это комментарий в стиле оболочки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Unix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793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Оператор, аргумент, выражение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"&lt;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&gt;Привет!!&lt;/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&gt;";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2 + 2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$а = 2;</a:t>
            </a: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= 3;</a:t>
            </a: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$с = $а + $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$c;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6466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Переменные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690689"/>
            <a:ext cx="755738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Правильные имена:</a:t>
            </a: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$extended_result2</a:t>
            </a: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$_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b="1" dirty="0"/>
              <a:t>Неправильные имена:</a:t>
            </a: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$2result</a:t>
            </a: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extended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$расширенный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вывод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/>
              <a:t>и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/>
              <a:t>— это разные </a:t>
            </a:r>
            <a:r>
              <a:rPr lang="ru-RU" dirty="0" smtClean="0"/>
              <a:t>переменные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129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Константы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define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Имя_константы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Значение_константы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", [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Нечувствительность_к_регистру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 smtClean="0"/>
              <a:t>Нечувствительность_к_регистру</a:t>
            </a:r>
            <a:r>
              <a:rPr lang="ru-RU" dirty="0" smtClean="0"/>
              <a:t>= </a:t>
            </a:r>
            <a:r>
              <a:rPr lang="en-US" dirty="0" smtClean="0"/>
              <a:t>False (</a:t>
            </a:r>
            <a:r>
              <a:rPr lang="ru-RU" dirty="0" smtClean="0"/>
              <a:t>по умолчанию</a:t>
            </a:r>
            <a:r>
              <a:rPr lang="en-US" dirty="0" smtClean="0"/>
              <a:t>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745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Арифметические операторы</a:t>
            </a:r>
            <a:endParaRPr lang="ru-RU" b="1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9885090"/>
              </p:ext>
            </p:extLst>
          </p:nvPr>
        </p:nvGraphicFramePr>
        <p:xfrm>
          <a:off x="425514" y="1743102"/>
          <a:ext cx="8329187" cy="378057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201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5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2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90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Обозначение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31" marR="7131" marT="7131" marB="713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Название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31" marR="7131" marT="7131" marB="713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Пример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31" marR="7131" marT="7131" marB="713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+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31" marR="7131" marT="7131" marB="71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Сложение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31" marR="7131" marT="7131" marB="71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$a + $b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31" marR="7131" marT="7131" marB="713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65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-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31" marR="7131" marT="7131" marB="71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Вычитание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31" marR="7131" marT="7131" marB="71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$a - $b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31" marR="7131" marT="7131" marB="713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65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*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31" marR="7131" marT="7131" marB="71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Умножение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31" marR="7131" marT="7131" marB="71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$a * $b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31" marR="7131" marT="7131" marB="713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/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31" marR="7131" marT="7131" marB="71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Деление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31" marR="7131" marT="7131" marB="71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$a / $b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31" marR="7131" marT="7131" marB="713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15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%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31" marR="7131" marT="7131" marB="71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Остаток от деления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31" marR="7131" marT="7131" marB="71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$a % $b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31" marR="7131" marT="7131" marB="713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0628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Строковые операторы</a:t>
            </a:r>
            <a:endParaRPr lang="ru-RU" b="1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7372822"/>
              </p:ext>
            </p:extLst>
          </p:nvPr>
        </p:nvGraphicFramePr>
        <p:xfrm>
          <a:off x="235389" y="1825626"/>
          <a:ext cx="8279961" cy="390935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46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3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0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90281">
                <a:tc>
                  <a:txBody>
                    <a:bodyPr/>
                    <a:lstStyle/>
                    <a:p>
                      <a:pPr marL="139065" indent="-13906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Обозначение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4" marR="4894" marT="4894" marB="4894" anchor="ctr"/>
                </a:tc>
                <a:tc>
                  <a:txBody>
                    <a:bodyPr/>
                    <a:lstStyle/>
                    <a:p>
                      <a:pPr marL="139065" indent="-13906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Название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4" marR="4894" marT="4894" marB="4894" anchor="ctr"/>
                </a:tc>
                <a:tc>
                  <a:txBody>
                    <a:bodyPr/>
                    <a:lstStyle/>
                    <a:p>
                      <a:pPr marL="139065" indent="-13906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Пример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4" marR="4894" marT="4894" marB="489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072">
                <a:tc>
                  <a:txBody>
                    <a:bodyPr/>
                    <a:lstStyle/>
                    <a:p>
                      <a:pPr marL="139065" indent="-13906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.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4" marR="4894" marT="4894" marB="4894" anchor="ctr"/>
                </a:tc>
                <a:tc>
                  <a:txBody>
                    <a:bodyPr/>
                    <a:lstStyle/>
                    <a:p>
                      <a:pPr marL="139065" indent="-13906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Конкатенация (сложение строк)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4" marR="4894" marT="4894" marB="4894" anchor="ctr"/>
                </a:tc>
                <a:tc>
                  <a:txBody>
                    <a:bodyPr/>
                    <a:lstStyle/>
                    <a:p>
                      <a:pPr marL="139065" indent="-13906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$c = $a . $b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4" marR="4894" marT="4894" marB="489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4585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6048" y="-325921"/>
            <a:ext cx="8057584" cy="1044907"/>
          </a:xfrm>
        </p:spPr>
        <p:txBody>
          <a:bodyPr/>
          <a:lstStyle/>
          <a:p>
            <a:r>
              <a:rPr lang="ru-RU" b="1" dirty="0" smtClean="0"/>
              <a:t>Операторы присваивания</a:t>
            </a:r>
            <a:endParaRPr lang="ru-RU" b="1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9775693"/>
              </p:ext>
            </p:extLst>
          </p:nvPr>
        </p:nvGraphicFramePr>
        <p:xfrm>
          <a:off x="130479" y="510937"/>
          <a:ext cx="8904879" cy="63313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65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5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8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5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69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Обозначение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01" marR="2201" marT="2201" marB="22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Название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01" marR="2201" marT="2201" marB="22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Описание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01" marR="2201" marT="2201" marB="22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Пример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01" marR="2201" marT="2201" marB="220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231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=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01" marR="2201" marT="2201" marB="22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Присваивание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01" marR="2201" marT="2201" marB="22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Переменной слева от оператора будет присвоено значение, полученное в результате выполнения каких-либо операций или переменной/константы с правой стороны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01" marR="2201" marT="2201" marB="22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$a = </a:t>
                      </a:r>
                      <a:r>
                        <a:rPr lang="ru-RU" sz="2000" dirty="0" smtClean="0">
                          <a:effectLst/>
                        </a:rPr>
                        <a:t>4+ </a:t>
                      </a:r>
                      <a:r>
                        <a:rPr lang="ru-RU" sz="2000" dirty="0">
                          <a:effectLst/>
                        </a:rPr>
                        <a:t>5;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01" marR="2201" marT="2201" marB="220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3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+=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01" marR="2201" marT="2201" marB="22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Присваивание и сумма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01" marR="2201" marT="2201" marB="22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Сокращение. Прибавляет к переменной число и затем присваивает ей полученное значение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01" marR="2201" marT="2201" marB="22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$a += 5;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01" marR="2201" marT="2201" marB="220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–=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01" marR="2201" marT="2201" marB="22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Присваивание и разность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01" marR="2201" marT="2201" marB="22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Сокращение. Вычитает из переменной число и затем присваивает ей полученное значение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01" marR="2201" marT="2201" marB="22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$a –= 5;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01" marR="2201" marT="2201" marB="220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54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.=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01" marR="2201" marT="2201" marB="22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Присваивание с конкатенацией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01" marR="2201" marT="2201" marB="22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Сокращенно обозначает комбинацию операций конкатенации и присваивания (сначала добавляется строка, потом полученная строка записывается в переменную)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01" marR="2201" marT="2201" marB="22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$b = "Привет ";</a:t>
                      </a:r>
                      <a:br>
                        <a:rPr lang="ru-RU" sz="2000" dirty="0">
                          <a:effectLst/>
                        </a:rPr>
                      </a:br>
                      <a:r>
                        <a:rPr lang="ru-RU" sz="2000" dirty="0">
                          <a:effectLst/>
                        </a:rPr>
                        <a:t>$b .= "всем";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01" marR="2201" marT="2201" marB="220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5713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52877" y="-54318"/>
            <a:ext cx="7566434" cy="1325563"/>
          </a:xfrm>
        </p:spPr>
        <p:txBody>
          <a:bodyPr/>
          <a:lstStyle/>
          <a:p>
            <a:r>
              <a:rPr lang="ru-RU" b="1" dirty="0" smtClean="0"/>
              <a:t>Логические операторы</a:t>
            </a:r>
            <a:endParaRPr lang="ru-RU" b="1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7433857"/>
              </p:ext>
            </p:extLst>
          </p:nvPr>
        </p:nvGraphicFramePr>
        <p:xfrm>
          <a:off x="54320" y="882317"/>
          <a:ext cx="9062519" cy="589881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711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6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7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7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13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Обозначение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Название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Описание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Пример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and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И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$a и $b истинны (True)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$a and $b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3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&amp;&amp;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И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 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$a &amp;&amp; $b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or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ИЛИ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Хотя бы одна из переменных $a или $b истинна (возможно, что и обе)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$a or $b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||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ИЛИ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 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$a || $b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87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xor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Исключающее ИЛИ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Одна из переменных истинна. Случай, когда они обе истинны, исключается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$a </a:t>
                      </a:r>
                      <a:r>
                        <a:rPr lang="ru-RU" sz="2400" dirty="0" err="1">
                          <a:effectLst/>
                        </a:rPr>
                        <a:t>xor</a:t>
                      </a:r>
                      <a:r>
                        <a:rPr lang="ru-RU" sz="2400" dirty="0">
                          <a:effectLst/>
                        </a:rPr>
                        <a:t> $b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29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!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Инверсия (NOT)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Если $a=True, то !$a=False и наоборот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! $a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" marR="3885" marT="3885" marB="388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0919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Операторы сравнения</a:t>
            </a:r>
            <a:endParaRPr lang="ru-RU" b="1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1416772"/>
              </p:ext>
            </p:extLst>
          </p:nvPr>
        </p:nvGraphicFramePr>
        <p:xfrm>
          <a:off x="172015" y="1284550"/>
          <a:ext cx="8799970" cy="557345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81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1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15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54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0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Обозначение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Название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Описание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Пример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4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==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Равенство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Значения переменных равны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$a == $b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4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===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Эквивалентность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Равны значения и типы переменных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$a === $b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4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!=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Неравенство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Значения переменных не равны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$a != $b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0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&lt;&gt; 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Неравенство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$a &lt;&gt; $b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2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!==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Неэквивалентность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Переменные не эквивалентны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$a !== $b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0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&lt; 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Меньше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$a &lt; $b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60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&gt; 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Больше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$a &gt; $b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32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&lt;=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Меньше или равно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$a &lt;= $b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32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&gt;=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Больше или равно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$a &gt;= $b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386" marR="9386" marT="9386" marB="9386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3222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0542" y="75415"/>
            <a:ext cx="8388601" cy="1325563"/>
          </a:xfrm>
        </p:spPr>
        <p:txBody>
          <a:bodyPr/>
          <a:lstStyle/>
          <a:p>
            <a:r>
              <a:rPr lang="ru-RU" b="1" dirty="0" smtClean="0"/>
              <a:t>Операторы инкремента и декремента</a:t>
            </a:r>
            <a:endParaRPr lang="ru-RU" b="1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0302674"/>
              </p:ext>
            </p:extLst>
          </p:nvPr>
        </p:nvGraphicFramePr>
        <p:xfrm>
          <a:off x="117694" y="1406537"/>
          <a:ext cx="8673221" cy="455010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842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9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907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Обозначение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04" marR="6904" marT="6904" marB="69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Название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04" marR="6904" marT="6904" marB="690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Описание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04" marR="6904" marT="6904" marB="690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5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++$a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04" marR="6904" marT="6904" marB="690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Пре-инкремент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04" marR="6904" marT="6904" marB="690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Увеличивает $a на единицу и возвращает $a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04" marR="6904" marT="6904" marB="690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5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$a++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04" marR="6904" marT="6904" marB="690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Пост-инкремент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04" marR="6904" marT="6904" marB="690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Возвращает $a, затем увеличивает $a на единицу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04" marR="6904" marT="6904" marB="690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5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--$a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04" marR="6904" marT="6904" marB="690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Пре-декремент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04" marR="6904" marT="6904" marB="690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Уменьшает $a на единицу и возвращает $a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04" marR="6904" marT="6904" marB="690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35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$a--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04" marR="6904" marT="6904" marB="690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Пост-декремент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04" marR="6904" marT="6904" marB="690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Возвращает $a, затем уменьшает $a на единицу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04" marR="6904" marT="6904" marB="690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7565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Оператор выводы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40509" y="1825625"/>
            <a:ext cx="798662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echo();</a:t>
            </a:r>
          </a:p>
          <a:p>
            <a:pPr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print();</a:t>
            </a:r>
          </a:p>
          <a:p>
            <a:pPr>
              <a:buNone/>
            </a:pP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buNone/>
            </a:pP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print_r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ar_dump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18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Типы данных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Четыре скалярных типа:</a:t>
            </a:r>
          </a:p>
          <a:p>
            <a:pPr lvl="1"/>
            <a:r>
              <a:rPr lang="ru-RU" dirty="0" err="1" smtClean="0"/>
              <a:t>bool</a:t>
            </a:r>
            <a:r>
              <a:rPr lang="en-US" dirty="0" err="1" smtClean="0"/>
              <a:t>ean</a:t>
            </a:r>
            <a:r>
              <a:rPr lang="ru-RU" dirty="0" smtClean="0"/>
              <a:t> (</a:t>
            </a:r>
            <a:r>
              <a:rPr lang="ru-RU" dirty="0"/>
              <a:t>логический); </a:t>
            </a:r>
            <a:endParaRPr lang="ru-RU" sz="2000" dirty="0"/>
          </a:p>
          <a:p>
            <a:pPr lvl="1"/>
            <a:r>
              <a:rPr lang="ru-RU" dirty="0" err="1"/>
              <a:t>integer</a:t>
            </a:r>
            <a:r>
              <a:rPr lang="ru-RU" dirty="0"/>
              <a:t> (целый); </a:t>
            </a:r>
            <a:endParaRPr lang="ru-RU" sz="2000" dirty="0"/>
          </a:p>
          <a:p>
            <a:pPr lvl="1"/>
            <a:r>
              <a:rPr lang="ru-RU" dirty="0" err="1"/>
              <a:t>float</a:t>
            </a:r>
            <a:r>
              <a:rPr lang="ru-RU" dirty="0"/>
              <a:t> (с плавающей точкой); </a:t>
            </a:r>
            <a:endParaRPr lang="ru-RU" sz="2000" dirty="0"/>
          </a:p>
          <a:p>
            <a:pPr lvl="1"/>
            <a:r>
              <a:rPr lang="ru-RU" dirty="0" err="1"/>
              <a:t>string</a:t>
            </a:r>
            <a:r>
              <a:rPr lang="ru-RU" dirty="0"/>
              <a:t> (строковый). </a:t>
            </a:r>
            <a:endParaRPr lang="ru-RU" sz="2000" dirty="0"/>
          </a:p>
          <a:p>
            <a:pPr marL="0" indent="0">
              <a:buNone/>
            </a:pPr>
            <a:r>
              <a:rPr lang="ru-RU" dirty="0"/>
              <a:t>Два смешанных типа:</a:t>
            </a:r>
          </a:p>
          <a:p>
            <a:pPr lvl="1"/>
            <a:r>
              <a:rPr lang="ru-RU" dirty="0" err="1"/>
              <a:t>array</a:t>
            </a:r>
            <a:r>
              <a:rPr lang="ru-RU" dirty="0"/>
              <a:t> (массив); </a:t>
            </a:r>
            <a:endParaRPr lang="ru-RU" sz="2000" dirty="0"/>
          </a:p>
          <a:p>
            <a:pPr lvl="1"/>
            <a:r>
              <a:rPr lang="ru-RU" dirty="0" err="1"/>
              <a:t>object</a:t>
            </a:r>
            <a:r>
              <a:rPr lang="ru-RU" dirty="0"/>
              <a:t> (объект). </a:t>
            </a:r>
            <a:endParaRPr lang="ru-RU" sz="2000" dirty="0"/>
          </a:p>
          <a:p>
            <a:pPr marL="0" indent="0">
              <a:buNone/>
            </a:pPr>
            <a:r>
              <a:rPr lang="ru-RU" dirty="0"/>
              <a:t>И </a:t>
            </a:r>
            <a:r>
              <a:rPr lang="ru-RU" dirty="0" smtClean="0"/>
              <a:t>еще:</a:t>
            </a:r>
            <a:endParaRPr lang="ru-RU" dirty="0"/>
          </a:p>
          <a:p>
            <a:pPr lvl="1"/>
            <a:r>
              <a:rPr lang="ru-RU" dirty="0" err="1"/>
              <a:t>resource</a:t>
            </a:r>
            <a:r>
              <a:rPr lang="ru-RU" dirty="0"/>
              <a:t> (ресурс); </a:t>
            </a:r>
            <a:endParaRPr lang="ru-RU" dirty="0" smtClean="0"/>
          </a:p>
          <a:p>
            <a:pPr lvl="1"/>
            <a:r>
              <a:rPr lang="en-US" dirty="0" smtClean="0"/>
              <a:t>callable (</a:t>
            </a:r>
            <a:r>
              <a:rPr lang="ru-RU" dirty="0" smtClean="0"/>
              <a:t>ссылка на функцию</a:t>
            </a:r>
            <a:r>
              <a:rPr lang="en-US" dirty="0" smtClean="0"/>
              <a:t>)</a:t>
            </a:r>
            <a:r>
              <a:rPr lang="ru-RU" dirty="0" smtClean="0"/>
              <a:t>;</a:t>
            </a:r>
          </a:p>
          <a:p>
            <a:pPr lvl="1"/>
            <a:r>
              <a:rPr lang="en-US" dirty="0"/>
              <a:t>m</a:t>
            </a:r>
            <a:r>
              <a:rPr lang="en-US" dirty="0" smtClean="0"/>
              <a:t>ixed</a:t>
            </a:r>
            <a:r>
              <a:rPr lang="ru-RU" dirty="0" smtClean="0"/>
              <a:t> (смешанный)</a:t>
            </a:r>
            <a:endParaRPr lang="en-US" dirty="0" smtClean="0"/>
          </a:p>
          <a:p>
            <a:pPr lvl="1"/>
            <a:r>
              <a:rPr lang="ru-RU" dirty="0" smtClean="0"/>
              <a:t>NULL</a:t>
            </a:r>
            <a:r>
              <a:rPr lang="ru-RU" dirty="0"/>
              <a:t>. </a:t>
            </a:r>
            <a:endParaRPr lang="ru-RU" sz="2000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371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Динамическая типизация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PHP </a:t>
            </a:r>
            <a:r>
              <a:rPr lang="ru-RU" dirty="0"/>
              <a:t>- язык с динамической типизацией, </a:t>
            </a:r>
            <a:r>
              <a:rPr lang="ru-RU" dirty="0" smtClean="0"/>
              <a:t>то есть </a:t>
            </a:r>
            <a:r>
              <a:rPr lang="ru-RU" dirty="0"/>
              <a:t>мы можем присваивать одной и той же переменной значения разных типов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9127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Тип </a:t>
            </a:r>
            <a:r>
              <a:rPr lang="ru-RU" b="1" dirty="0" err="1"/>
              <a:t>boolean</a:t>
            </a:r>
            <a:r>
              <a:rPr lang="ru-RU" b="1" dirty="0"/>
              <a:t> (булев или логический тип</a:t>
            </a:r>
            <a:r>
              <a:rPr lang="ru-RU" b="1" dirty="0" smtClean="0"/>
              <a:t>)</a:t>
            </a:r>
            <a:endParaRPr lang="ru-RU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28650" y="2386640"/>
            <a:ext cx="695134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&lt;?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php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$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test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True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;?&gt;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633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Тип </a:t>
            </a:r>
            <a:r>
              <a:rPr lang="ru-RU" b="1" dirty="0" err="1"/>
              <a:t>integer</a:t>
            </a:r>
            <a:r>
              <a:rPr lang="ru-RU" b="1" dirty="0"/>
              <a:t> (целые</a:t>
            </a:r>
            <a:r>
              <a:rPr lang="ru-RU" b="1" dirty="0" smtClean="0"/>
              <a:t>)</a:t>
            </a:r>
            <a:endParaRPr lang="ru-RU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28649" y="1392730"/>
            <a:ext cx="7886701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&lt;?</a:t>
            </a:r>
            <a:r>
              <a:rPr lang="ru-RU" sz="2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php</a:t>
            </a: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десятичное число 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$a = 1234;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# отрицательное число 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$a = -123; 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восьмеричное число (эквивалентно 83 в десятичной </a:t>
            </a:r>
            <a:r>
              <a:rPr lang="en-US" sz="2400" dirty="0" smtClean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</a:t>
            </a:r>
            <a:r>
              <a:rPr lang="ru-RU" sz="2400" dirty="0" smtClean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системе</a:t>
            </a: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 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$a = 0123; 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шестнадцатеричное число (эквивалентно 26 в десятичной </a:t>
            </a:r>
            <a:r>
              <a:rPr lang="en-US" sz="2400" dirty="0" smtClean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</a:t>
            </a:r>
            <a:r>
              <a:rPr lang="ru-RU" sz="2400" dirty="0" smtClean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системе</a:t>
            </a: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 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$a = 0x1A;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?&gt;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735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Тип </a:t>
            </a:r>
            <a:r>
              <a:rPr lang="ru-RU" b="1" dirty="0" err="1"/>
              <a:t>float</a:t>
            </a:r>
            <a:r>
              <a:rPr lang="ru-RU" b="1" dirty="0"/>
              <a:t> (числа с плавающей точкой)</a:t>
            </a:r>
            <a:br>
              <a:rPr lang="ru-RU" b="1" dirty="0"/>
            </a:br>
            <a:endParaRPr lang="ru-RU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28650" y="1690689"/>
            <a:ext cx="2977097" cy="2200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&lt;?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php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$a = 1.234; 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$b = 1.2e3; 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$c = 7E-10;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?&gt;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439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Тип </a:t>
            </a:r>
            <a:r>
              <a:rPr lang="ru-RU" b="1" dirty="0" err="1"/>
              <a:t>string</a:t>
            </a:r>
            <a:r>
              <a:rPr lang="ru-RU" b="1" dirty="0"/>
              <a:t> (строки</a:t>
            </a:r>
            <a:r>
              <a:rPr lang="ru-RU" b="1" dirty="0" smtClean="0"/>
              <a:t>)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Строка в PHP может быть определена тремя различными способами:</a:t>
            </a:r>
          </a:p>
          <a:p>
            <a:pPr lvl="0"/>
            <a:r>
              <a:rPr lang="ru-RU" dirty="0"/>
              <a:t>с помощью одинарных кавычек; </a:t>
            </a:r>
          </a:p>
          <a:p>
            <a:pPr lvl="0"/>
            <a:r>
              <a:rPr lang="ru-RU" dirty="0"/>
              <a:t>с помощью двойных кавычек; </a:t>
            </a:r>
          </a:p>
          <a:p>
            <a:r>
              <a:rPr lang="ru-RU" dirty="0" err="1" smtClean="0"/>
              <a:t>heredoc</a:t>
            </a:r>
            <a:r>
              <a:rPr lang="ru-RU" dirty="0" smtClean="0"/>
              <a:t>-синтаксисом (с </a:t>
            </a:r>
            <a:r>
              <a:rPr lang="en-US" dirty="0" smtClean="0"/>
              <a:t>PHP4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2554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Одинарные кавычки</a:t>
            </a:r>
            <a:endParaRPr lang="ru-RU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28649" y="1690689"/>
            <a:ext cx="7886701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&lt;?</a:t>
            </a:r>
            <a:r>
              <a:rPr lang="ru-RU" sz="2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php</a:t>
            </a: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echo</a:t>
            </a: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'Текст'; 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 err="1" smtClean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echo</a:t>
            </a:r>
            <a:r>
              <a:rPr lang="ru-RU" sz="2400" dirty="0" smtClean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'Чтобы вывести \' надо перед '.'ней поставить \\'; 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 err="1" smtClean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echo</a:t>
            </a:r>
            <a:r>
              <a:rPr lang="ru-RU" sz="2400" dirty="0" smtClean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'Это не вставит: \n новую строку';  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 err="1" smtClean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echo</a:t>
            </a:r>
            <a:r>
              <a:rPr lang="ru-RU" sz="2400" dirty="0" smtClean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'Переменные $</a:t>
            </a:r>
            <a:r>
              <a:rPr lang="ru-RU" sz="2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expand</a:t>
            </a: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также $</a:t>
            </a:r>
            <a:r>
              <a:rPr lang="ru-RU" sz="2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either</a:t>
            </a: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'.'не подставляются';?&gt;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858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Heredoc</a:t>
            </a:r>
            <a:endParaRPr lang="ru-RU" b="1" dirty="0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28649" y="1829252"/>
            <a:ext cx="7990249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&lt;?</a:t>
            </a:r>
            <a:r>
              <a:rPr lang="ru-RU" sz="2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php</a:t>
            </a: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en-US" sz="2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$</a:t>
            </a:r>
            <a:r>
              <a:rPr lang="ru-RU" sz="2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</a:t>
            </a: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&lt;&lt;&lt;EOD  </a:t>
            </a:r>
            <a:endParaRPr lang="en-US" sz="2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Пример строки, </a:t>
            </a:r>
            <a:endParaRPr lang="en-US" sz="2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охватывающей несколько  строчек,</a:t>
            </a:r>
            <a:endParaRPr lang="en-US" sz="2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с использованием  </a:t>
            </a:r>
            <a:r>
              <a:rPr lang="ru-RU" sz="2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heredoc</a:t>
            </a: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-синтаксиса  </a:t>
            </a:r>
            <a:endParaRPr lang="en-US" sz="2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EOD;  </a:t>
            </a:r>
            <a:endParaRPr lang="en-US" sz="2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 smtClean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$</a:t>
            </a:r>
            <a:r>
              <a:rPr lang="ru-RU" sz="2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name</a:t>
            </a: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'Вася';  </a:t>
            </a:r>
            <a:endParaRPr lang="en-US" sz="2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echo</a:t>
            </a: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&lt;&lt;&lt;EOT  </a:t>
            </a:r>
            <a:endParaRPr lang="en-US" sz="2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Меня зовут "$</a:t>
            </a:r>
            <a:r>
              <a:rPr lang="ru-RU" sz="2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name</a:t>
            </a: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".  </a:t>
            </a:r>
            <a:endParaRPr lang="en-US" sz="2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EOT; </a:t>
            </a:r>
            <a:endParaRPr lang="en-US" sz="2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// это выведет "Меня зовут "Вася".“</a:t>
            </a:r>
            <a:endParaRPr lang="en-US" sz="2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?&gt;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487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Управляющие конструкции</a:t>
            </a:r>
            <a:endParaRPr lang="ru-RU" b="1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27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Оператор </a:t>
            </a:r>
            <a:r>
              <a:rPr lang="ru-RU" b="1" dirty="0" err="1"/>
              <a:t>if</a:t>
            </a:r>
            <a:endParaRPr lang="ru-RU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43650" y="1496019"/>
            <a:ext cx="8926687" cy="5146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if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(выражение)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блок_выполнения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ru-RU" dirty="0" smtClean="0"/>
              <a:t>В </a:t>
            </a:r>
            <a:r>
              <a:rPr lang="ru-RU" dirty="0"/>
              <a:t>FALSE преобразуются следующие значения: </a:t>
            </a:r>
            <a:endParaRPr lang="ru-RU" sz="2400" dirty="0"/>
          </a:p>
          <a:p>
            <a:pPr lvl="1"/>
            <a:r>
              <a:rPr lang="ru-RU" dirty="0"/>
              <a:t>логическое </a:t>
            </a:r>
            <a:r>
              <a:rPr lang="ru-RU" dirty="0" err="1"/>
              <a:t>False</a:t>
            </a:r>
            <a:r>
              <a:rPr lang="ru-RU" dirty="0"/>
              <a:t> </a:t>
            </a:r>
            <a:endParaRPr lang="ru-RU" sz="2000" dirty="0"/>
          </a:p>
          <a:p>
            <a:pPr lvl="1"/>
            <a:r>
              <a:rPr lang="ru-RU" dirty="0"/>
              <a:t>целый ноль (0) </a:t>
            </a:r>
            <a:endParaRPr lang="ru-RU" sz="2000" dirty="0"/>
          </a:p>
          <a:p>
            <a:pPr lvl="1"/>
            <a:r>
              <a:rPr lang="ru-RU" dirty="0"/>
              <a:t>действительный ноль (0.0) </a:t>
            </a:r>
            <a:endParaRPr lang="ru-RU" sz="2000" dirty="0"/>
          </a:p>
          <a:p>
            <a:pPr lvl="1"/>
            <a:r>
              <a:rPr lang="ru-RU" dirty="0"/>
              <a:t>пустая строка и строка "0" </a:t>
            </a:r>
            <a:endParaRPr lang="ru-RU" sz="2000" dirty="0"/>
          </a:p>
          <a:p>
            <a:pPr lvl="1"/>
            <a:r>
              <a:rPr lang="ru-RU" dirty="0"/>
              <a:t>массив без элементов </a:t>
            </a:r>
            <a:endParaRPr lang="ru-RU" sz="2000" dirty="0"/>
          </a:p>
          <a:p>
            <a:pPr lvl="1"/>
            <a:r>
              <a:rPr lang="ru-RU" dirty="0"/>
              <a:t>объект без переменных </a:t>
            </a:r>
            <a:endParaRPr lang="ru-RU" sz="2000" dirty="0"/>
          </a:p>
          <a:p>
            <a:pPr lvl="1"/>
            <a:r>
              <a:rPr lang="ru-RU" dirty="0"/>
              <a:t>специальный тип NULL </a:t>
            </a:r>
            <a:endParaRPr lang="ru-RU" sz="2000" dirty="0"/>
          </a:p>
          <a:p>
            <a:pPr marL="0" indent="0">
              <a:buNone/>
            </a:pPr>
            <a:r>
              <a:rPr lang="ru-RU" dirty="0"/>
              <a:t>Все остальные значения преобразуются в TRUE. 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28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6540" y="648994"/>
            <a:ext cx="7448739" cy="1325563"/>
          </a:xfrm>
        </p:spPr>
        <p:txBody>
          <a:bodyPr/>
          <a:lstStyle/>
          <a:p>
            <a:r>
              <a:rPr lang="ru-RU" b="1" dirty="0"/>
              <a:t>Оператор </a:t>
            </a:r>
            <a:r>
              <a:rPr lang="ru-RU" b="1" dirty="0" err="1"/>
              <a:t>else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26540" y="1687852"/>
            <a:ext cx="7778279" cy="2477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if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(выражение)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блок_выполнения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else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блок_выполнения_2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sz="1800" dirty="0">
              <a:latin typeface="Arial" panose="020B0604020202020204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1997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Оператор </a:t>
            </a:r>
            <a:r>
              <a:rPr lang="en-US" b="1" dirty="0" err="1" smtClean="0"/>
              <a:t>elseif</a:t>
            </a:r>
            <a:endParaRPr lang="ru-RU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18095" y="1798851"/>
            <a:ext cx="6811141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if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(выражение_1)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блок_выполнения_1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elseif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(выражение_2)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блок_выполнения_2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dirty="0" smtClean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…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lse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{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блок_выполнения_N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 smtClean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8756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Альтернативный синтаксис</a:t>
            </a:r>
            <a:endParaRPr lang="ru-RU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2990" y="1900315"/>
            <a:ext cx="841391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if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(выражение):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блок_выполнения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endif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9918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Оператор </a:t>
            </a:r>
            <a:r>
              <a:rPr lang="ru-RU" b="1" dirty="0" err="1" smtClean="0"/>
              <a:t>switch</a:t>
            </a:r>
            <a:endParaRPr lang="ru-RU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28650" y="1752244"/>
            <a:ext cx="7523242" cy="423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switch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(выражение или переменная){ 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case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значение_1:  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блок_действий_1</a:t>
            </a:r>
            <a:r>
              <a:rPr lang="en-US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break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 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case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значение_2:   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блок_действий_2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break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  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...  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default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     </a:t>
            </a:r>
            <a:r>
              <a:rPr kumimoji="0" lang="ru-RU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блок_действий_по_умолчанию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0233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37926" y="519551"/>
            <a:ext cx="4793300" cy="5586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&lt;?</a:t>
            </a:r>
            <a:r>
              <a:rPr lang="ru-RU" sz="2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php</a:t>
            </a: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en-US" sz="2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switch ($</a:t>
            </a:r>
            <a:r>
              <a:rPr lang="en-US" sz="2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</a:t>
            </a:r>
            <a:r>
              <a:rPr lang="en-US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 {  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case 1:     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echo "</a:t>
            </a: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Один</a:t>
            </a:r>
            <a:r>
              <a:rPr lang="en-US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";   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</a:t>
            </a:r>
            <a:r>
              <a:rPr lang="ru-RU" sz="2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break</a:t>
            </a: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    </a:t>
            </a:r>
            <a:endParaRPr lang="en-US" sz="2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ru-RU" sz="2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case</a:t>
            </a: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2:      </a:t>
            </a:r>
            <a:endParaRPr lang="en-US" sz="2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ru-RU" sz="2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echo</a:t>
            </a: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"Два";</a:t>
            </a:r>
            <a:endParaRPr lang="en-US" sz="2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</a:t>
            </a:r>
            <a:r>
              <a:rPr lang="ru-RU" sz="2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break</a:t>
            </a: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   </a:t>
            </a:r>
            <a:endParaRPr lang="en-US" sz="2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ru-RU" sz="2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case</a:t>
            </a: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3: </a:t>
            </a:r>
            <a:endParaRPr lang="en-US" sz="2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ru-RU" sz="2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echo</a:t>
            </a: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"Три";   </a:t>
            </a:r>
            <a:endParaRPr lang="en-US" sz="2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break;   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default:     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echo "</a:t>
            </a: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Больше трех"; </a:t>
            </a:r>
            <a:endParaRPr lang="en-US" sz="2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}</a:t>
            </a:r>
            <a:endParaRPr lang="en-US" sz="2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?&gt;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6310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Оператор </a:t>
            </a:r>
            <a:r>
              <a:rPr lang="en-US" b="1" dirty="0" smtClean="0"/>
              <a:t>match  </a:t>
            </a:r>
            <a:r>
              <a:rPr lang="ru-RU" b="1" dirty="0" smtClean="0"/>
              <a:t>вместо </a:t>
            </a:r>
            <a:r>
              <a:rPr lang="en-US" b="1" dirty="0" smtClean="0"/>
              <a:t>switch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match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($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1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=&gt; '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2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=&gt; '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Two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b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3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=&gt; '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Three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ru-RU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=&gt; '</a:t>
            </a:r>
            <a:r>
              <a:rPr lang="ru-RU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Other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03107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Цикл </a:t>
            </a:r>
            <a:r>
              <a:rPr lang="en-US" b="1" dirty="0" smtClean="0"/>
              <a:t>while</a:t>
            </a:r>
            <a:endParaRPr lang="ru-RU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28650" y="1500014"/>
            <a:ext cx="7425460" cy="2200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while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(выражение) 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блок_выполнения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}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while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(выражение):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блок_выполнения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endwhile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669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Цикл </a:t>
            </a:r>
            <a:r>
              <a:rPr lang="ru-RU" b="1" dirty="0" err="1"/>
              <a:t>do</a:t>
            </a:r>
            <a:r>
              <a:rPr lang="ru-RU" b="1" dirty="0"/>
              <a:t>... </a:t>
            </a:r>
            <a:r>
              <a:rPr lang="ru-RU" b="1" dirty="0" err="1"/>
              <a:t>while</a:t>
            </a:r>
            <a:endParaRPr lang="ru-RU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02691" y="1690689"/>
            <a:ext cx="7582327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do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блок_выполнения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} 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while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(выражение);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912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Цикл </a:t>
            </a:r>
            <a:r>
              <a:rPr lang="en-US" b="1" dirty="0" smtClean="0"/>
              <a:t>for</a:t>
            </a:r>
            <a:endParaRPr lang="ru-RU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28650" y="1690689"/>
            <a:ext cx="7582478" cy="349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for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(выражение_1; выражение_2; выражение_3) 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блок_выполнения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}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for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(выражение_1; выражение_2; выражение_3): 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блок_выполнения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endfor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9093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Операторы передачи управления </a:t>
            </a:r>
            <a:r>
              <a:rPr lang="en-US" b="1" dirty="0" smtClean="0"/>
              <a:t>BREAK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u-RU" dirty="0" smtClean="0"/>
              <a:t>Оператор </a:t>
            </a:r>
            <a:r>
              <a:rPr lang="ru-RU" b="1" dirty="0" err="1" smtClean="0"/>
              <a:t>break</a:t>
            </a:r>
            <a:r>
              <a:rPr lang="ru-RU" dirty="0" smtClean="0"/>
              <a:t> заканчивает выполнение текущего цикла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$i=1; 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($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 {</a:t>
            </a:r>
          </a:p>
          <a:p>
            <a:pPr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$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rand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(1,10);        </a:t>
            </a:r>
          </a:p>
          <a:p>
            <a:pPr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$i:$n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($n == 5) break;     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echo 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Цикл работает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&gt;";   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i++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</a:p>
          <a:p>
            <a:pPr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"&lt;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&gt;Число итераций цикла $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38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Операторы передачи управления </a:t>
            </a:r>
            <a:r>
              <a:rPr lang="en-US" b="1" dirty="0" smtClean="0"/>
              <a:t>CONTINUE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Оператор </a:t>
            </a:r>
            <a:r>
              <a:rPr lang="ru-RU" dirty="0" err="1" smtClean="0"/>
              <a:t>continue</a:t>
            </a:r>
            <a:r>
              <a:rPr lang="ru-RU" dirty="0" smtClean="0"/>
              <a:t> позволяет пропустить дальнейшие инструкции из </a:t>
            </a:r>
            <a:r>
              <a:rPr lang="ru-RU" dirty="0" err="1" smtClean="0"/>
              <a:t>блока_выполнения</a:t>
            </a:r>
            <a:r>
              <a:rPr lang="ru-RU" dirty="0" smtClean="0"/>
              <a:t> любого цикла и продолжить выполнение с нового круга.</a:t>
            </a:r>
            <a:endParaRPr lang="en-US" dirty="0" smtClean="0"/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39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63578" y="402336"/>
            <a:ext cx="8145855" cy="624230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$i=1;  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($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&lt;4)  { 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None/>
            </a:pP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ru-R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ru-R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(1,10); 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None/>
            </a:pPr>
            <a:r>
              <a:rPr lang="ru-R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"$</a:t>
            </a:r>
            <a:r>
              <a:rPr lang="ru-R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i:$n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";      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None/>
            </a:pPr>
            <a:r>
              <a:rPr lang="ru-R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($n==5)    { 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"Новая итерация ";    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continue;    </a:t>
            </a:r>
          </a:p>
          <a:p>
            <a:pPr lvl="1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   </a:t>
            </a:r>
          </a:p>
          <a:p>
            <a:pPr lvl="1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echo "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Цикл работает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&gt;";    </a:t>
            </a:r>
          </a:p>
          <a:p>
            <a:pPr lvl="1">
              <a:buNone/>
            </a:pP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ru-R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i++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buNone/>
            </a:pP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buNone/>
            </a:pPr>
            <a:r>
              <a:rPr lang="ru-R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"&lt;</a:t>
            </a:r>
            <a:r>
              <a:rPr lang="ru-R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&gt;Число итераций цикла $</a:t>
            </a:r>
            <a:r>
              <a:rPr lang="ru-R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40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Оператор </a:t>
            </a:r>
            <a:r>
              <a:rPr lang="en-US" b="1" dirty="0" smtClean="0"/>
              <a:t>exit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63418" y="1825625"/>
            <a:ext cx="8580582" cy="4351338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exit;</a:t>
            </a:r>
          </a:p>
          <a:p>
            <a:pPr>
              <a:buNone/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("&lt;p&gt;Не верные данные для входа&lt;/p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&gt;")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41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Оператор включения </a:t>
            </a:r>
            <a:r>
              <a:rPr lang="en-US" b="1" dirty="0" smtClean="0"/>
              <a:t>include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Оператор </a:t>
            </a:r>
            <a:r>
              <a:rPr lang="ru-RU" dirty="0" err="1" smtClean="0"/>
              <a:t>include</a:t>
            </a:r>
            <a:r>
              <a:rPr lang="ru-RU" dirty="0" smtClean="0"/>
              <a:t> позволяет включать код, содержащийся в указанном файле, и выполнять его столько раз, сколько программа встречает этот оператор. 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include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'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имя_файла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';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include $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file_name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include ("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имя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файла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42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91151" y="258808"/>
            <a:ext cx="8163962" cy="636422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&lt;?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# params.inc</a:t>
            </a: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#------------  </a:t>
            </a: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$user = 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Вася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$today = date("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d.m.y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?&gt;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>
              <a:buNone/>
            </a:pP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&lt;?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# include.php</a:t>
            </a: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#-------------  </a:t>
            </a: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include ("params.inc");  </a:t>
            </a:r>
          </a:p>
          <a:p>
            <a:pPr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"Привет, $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!&lt;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&gt;";  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"Сегодня $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today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"; 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?&gt;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43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Оператор включения </a:t>
            </a:r>
            <a:r>
              <a:rPr lang="en-US" b="1" dirty="0" smtClean="0"/>
              <a:t>require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err="1" smtClean="0"/>
              <a:t>R</a:t>
            </a:r>
            <a:r>
              <a:rPr lang="ru-RU" dirty="0" err="1" smtClean="0"/>
              <a:t>equire</a:t>
            </a:r>
            <a:r>
              <a:rPr lang="ru-RU" dirty="0" smtClean="0"/>
              <a:t> также позволяет включать в программу и исполнять какой-либо файл. </a:t>
            </a:r>
            <a:endParaRPr lang="en-US" dirty="0" smtClean="0"/>
          </a:p>
          <a:p>
            <a:pPr>
              <a:buNone/>
            </a:pPr>
            <a:r>
              <a:rPr lang="ru-RU" dirty="0" smtClean="0"/>
              <a:t>Основное отличие </a:t>
            </a:r>
            <a:r>
              <a:rPr lang="ru-RU" dirty="0" err="1" smtClean="0"/>
              <a:t>require</a:t>
            </a:r>
            <a:r>
              <a:rPr lang="ru-RU" dirty="0" smtClean="0"/>
              <a:t> и </a:t>
            </a:r>
            <a:r>
              <a:rPr lang="ru-RU" dirty="0" err="1" smtClean="0"/>
              <a:t>include</a:t>
            </a:r>
            <a:r>
              <a:rPr lang="ru-RU" dirty="0" smtClean="0"/>
              <a:t> заключается в том, как они реагируют на возникновение ошибки. </a:t>
            </a:r>
            <a:endParaRPr lang="en-US" dirty="0" smtClean="0"/>
          </a:p>
          <a:p>
            <a:pPr>
              <a:buNone/>
            </a:pPr>
            <a:r>
              <a:rPr lang="en-US" dirty="0" err="1" smtClean="0"/>
              <a:t>I</a:t>
            </a:r>
            <a:r>
              <a:rPr lang="ru-RU" dirty="0" err="1" smtClean="0"/>
              <a:t>nclude</a:t>
            </a:r>
            <a:r>
              <a:rPr lang="ru-RU" dirty="0" smtClean="0"/>
              <a:t> выдает предупреждение, и работа скрипта продолжается. </a:t>
            </a:r>
            <a:endParaRPr lang="en-US" dirty="0" smtClean="0"/>
          </a:p>
          <a:p>
            <a:pPr>
              <a:buNone/>
            </a:pPr>
            <a:r>
              <a:rPr lang="ru-RU" dirty="0" smtClean="0"/>
              <a:t>Ошибка в </a:t>
            </a:r>
            <a:r>
              <a:rPr lang="ru-RU" dirty="0" err="1" smtClean="0"/>
              <a:t>require</a:t>
            </a:r>
            <a:r>
              <a:rPr lang="ru-RU" dirty="0" smtClean="0"/>
              <a:t> вызывает фатальную ошибку работы скрипта и прекращает его выполнение.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44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Оператор включения </a:t>
            </a:r>
            <a:r>
              <a:rPr lang="en-US" b="1" dirty="0" err="1" smtClean="0"/>
              <a:t>require_once</a:t>
            </a:r>
            <a:r>
              <a:rPr lang="en-US" b="1" dirty="0" smtClean="0"/>
              <a:t> </a:t>
            </a:r>
            <a:r>
              <a:rPr lang="ru-RU" b="1" dirty="0" smtClean="0"/>
              <a:t>и </a:t>
            </a:r>
            <a:r>
              <a:rPr lang="en-US" b="1" dirty="0" err="1" smtClean="0"/>
              <a:t>include_once</a:t>
            </a:r>
            <a:r>
              <a:rPr lang="en-US" b="1" dirty="0" smtClean="0"/>
              <a:t>() 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Файл подключается только один раз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1884C-2C20-42F2-AA6E-EB4A1B84A492}" type="slidenum">
              <a:rPr lang="ru-RU" smtClean="0"/>
              <a:pPr/>
              <a:t>45</a:t>
            </a:fld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803</TotalTime>
  <Words>1435</Words>
  <Application>Microsoft Office PowerPoint</Application>
  <PresentationFormat>Экран (4:3)</PresentationFormat>
  <Paragraphs>449</Paragraphs>
  <Slides>45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45</vt:i4>
      </vt:variant>
    </vt:vector>
  </HeadingPairs>
  <TitlesOfParts>
    <vt:vector size="51" baseType="lpstr">
      <vt:lpstr>Arial</vt:lpstr>
      <vt:lpstr>Calibri</vt:lpstr>
      <vt:lpstr>Calibri Light</vt:lpstr>
      <vt:lpstr>Courier New</vt:lpstr>
      <vt:lpstr>Times New Roman</vt:lpstr>
      <vt:lpstr>Тема Office</vt:lpstr>
      <vt:lpstr>Основы PHP</vt:lpstr>
      <vt:lpstr>Инструментальные средства</vt:lpstr>
      <vt:lpstr>Нативный (встроенный) сервер PHP</vt:lpstr>
      <vt:lpstr>Немного истории</vt:lpstr>
      <vt:lpstr>Что означает PHP?</vt:lpstr>
      <vt:lpstr>Версии PHP </vt:lpstr>
      <vt:lpstr>Дескрипторы PHP</vt:lpstr>
      <vt:lpstr>Комментарии</vt:lpstr>
      <vt:lpstr>Оператор, аргумент, выражение</vt:lpstr>
      <vt:lpstr>Переменные</vt:lpstr>
      <vt:lpstr>Константы</vt:lpstr>
      <vt:lpstr>Арифметические операторы</vt:lpstr>
      <vt:lpstr>Строковые операторы</vt:lpstr>
      <vt:lpstr>Операторы присваивания</vt:lpstr>
      <vt:lpstr>Логические операторы</vt:lpstr>
      <vt:lpstr>Операторы сравнения</vt:lpstr>
      <vt:lpstr>Операторы инкремента и декремента</vt:lpstr>
      <vt:lpstr>Оператор выводы</vt:lpstr>
      <vt:lpstr>Типы данных</vt:lpstr>
      <vt:lpstr>Динамическая типизация</vt:lpstr>
      <vt:lpstr>Тип boolean (булев или логический тип)</vt:lpstr>
      <vt:lpstr>Тип integer (целые)</vt:lpstr>
      <vt:lpstr>Тип float (числа с плавающей точкой) </vt:lpstr>
      <vt:lpstr>Тип string (строки)</vt:lpstr>
      <vt:lpstr>Одинарные кавычки</vt:lpstr>
      <vt:lpstr>Heredoc</vt:lpstr>
      <vt:lpstr>Управляющие конструкции</vt:lpstr>
      <vt:lpstr>Оператор if</vt:lpstr>
      <vt:lpstr>Оператор else </vt:lpstr>
      <vt:lpstr>Оператор elseif</vt:lpstr>
      <vt:lpstr>Альтернативный синтаксис</vt:lpstr>
      <vt:lpstr>Оператор switch</vt:lpstr>
      <vt:lpstr>Презентация PowerPoint</vt:lpstr>
      <vt:lpstr>Оператор match  вместо switch</vt:lpstr>
      <vt:lpstr>Цикл while</vt:lpstr>
      <vt:lpstr>Цикл do... while</vt:lpstr>
      <vt:lpstr>Цикл for</vt:lpstr>
      <vt:lpstr>Операторы передачи управления BREAK</vt:lpstr>
      <vt:lpstr>Операторы передачи управления CONTINUE</vt:lpstr>
      <vt:lpstr>Презентация PowerPoint</vt:lpstr>
      <vt:lpstr>Оператор exit</vt:lpstr>
      <vt:lpstr>Оператор включения include</vt:lpstr>
      <vt:lpstr>Презентация PowerPoint</vt:lpstr>
      <vt:lpstr>Оператор включения require</vt:lpstr>
      <vt:lpstr>Оператор включения require_once и include_once() 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PHP</dc:title>
  <dc:creator>Пользователь Windows</dc:creator>
  <cp:lastModifiedBy>julia</cp:lastModifiedBy>
  <cp:revision>68</cp:revision>
  <dcterms:created xsi:type="dcterms:W3CDTF">2013-10-01T14:57:45Z</dcterms:created>
  <dcterms:modified xsi:type="dcterms:W3CDTF">2025-09-03T11:35:11Z</dcterms:modified>
</cp:coreProperties>
</file>