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73" r:id="rId10"/>
    <p:sldId id="261" r:id="rId11"/>
    <p:sldId id="265" r:id="rId12"/>
    <p:sldId id="266" r:id="rId13"/>
    <p:sldId id="267" r:id="rId14"/>
    <p:sldId id="268" r:id="rId15"/>
    <p:sldId id="271" r:id="rId16"/>
    <p:sldId id="269" r:id="rId17"/>
    <p:sldId id="272" r:id="rId18"/>
    <p:sldId id="270" r:id="rId19"/>
    <p:sldId id="274" r:id="rId20"/>
    <p:sldId id="275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8046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1367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015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953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9400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496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023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35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5482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948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001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08733-E4D8-4DA4-971D-119790CFED0A}" type="datetimeFigureOut">
              <a:rPr lang="ru-RU" smtClean="0"/>
              <a:t>06.02.2026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DB480-83DC-494B-B2CD-1394640C5F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060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mu/ru/php/book/oop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Объектно-ориентированное программирование </a:t>
            </a:r>
            <a:r>
              <a:rPr lang="en-US" b="1" dirty="0" smtClean="0"/>
              <a:t>PHP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17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Принципы ООП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Инкапсуляция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Наследование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Полиморфизм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Абстракция</a:t>
            </a:r>
          </a:p>
          <a:p>
            <a:pPr marL="0" indent="0">
              <a:buNone/>
            </a:pPr>
            <a:r>
              <a:rPr lang="ru-RU" dirty="0" smtClean="0"/>
              <a:t>В PHP ООП появилось в версии 5 и значительно улучшено в PHP 7/8.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7324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Заготовка приложения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Создайте папку проекта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В терминале запустите команду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composer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Код в </a:t>
            </a:r>
            <a:r>
              <a:rPr lang="en-US" dirty="0" err="1" smtClean="0"/>
              <a:t>composer.json</a:t>
            </a:r>
            <a:endParaRPr lang="en-US" dirty="0" smtClean="0"/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"psr-4":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"App\\": "app/"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}    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3521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Заготовка приложения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ru-RU" dirty="0" smtClean="0"/>
              <a:t>Создайте файл </a:t>
            </a:r>
            <a:r>
              <a:rPr lang="en-US" dirty="0" err="1" smtClean="0"/>
              <a:t>User.php</a:t>
            </a:r>
            <a:r>
              <a:rPr lang="en-US" dirty="0" smtClean="0"/>
              <a:t> </a:t>
            </a:r>
            <a:r>
              <a:rPr lang="ru-RU" dirty="0" smtClean="0"/>
              <a:t>в папке </a:t>
            </a:r>
            <a:r>
              <a:rPr lang="en-US" dirty="0" smtClean="0"/>
              <a:t>app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&lt;?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php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namespace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App;</a:t>
            </a: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class User {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string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$name;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$age;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public function greet() {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    return "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Привет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я " . $this-&gt;name;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67812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Заготовка приложения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ru-RU" dirty="0" smtClean="0"/>
              <a:t>Файл </a:t>
            </a:r>
            <a:r>
              <a:rPr lang="en-US" dirty="0" err="1" smtClean="0"/>
              <a:t>index.php</a:t>
            </a:r>
            <a:r>
              <a:rPr lang="en-US" dirty="0" smtClean="0"/>
              <a:t> </a:t>
            </a:r>
            <a:r>
              <a:rPr lang="ru-RU" dirty="0" smtClean="0"/>
              <a:t>в корне проекта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&lt;?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require_once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('./vendor/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autoload.php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');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// Создание объекта</a:t>
            </a: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user1 = new User();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$user1-&gt;name =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Анна";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echo $user1-&gt;greet(); //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Привет, я Анна"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ru-RU" dirty="0" smtClean="0"/>
              <a:t>Установите расширение </a:t>
            </a:r>
            <a:r>
              <a:rPr lang="en-US" dirty="0" err="1" smtClean="0"/>
              <a:t>phpServer</a:t>
            </a:r>
            <a:r>
              <a:rPr lang="en-US" dirty="0" smtClean="0"/>
              <a:t> </a:t>
            </a:r>
            <a:r>
              <a:rPr lang="ru-RU" dirty="0" smtClean="0"/>
              <a:t>в </a:t>
            </a:r>
            <a:r>
              <a:rPr lang="en-US" dirty="0" err="1" smtClean="0"/>
              <a:t>VSCode</a:t>
            </a:r>
            <a:r>
              <a:rPr lang="ru-RU" dirty="0" smtClean="0"/>
              <a:t> и запустите приложение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43469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Конструктор и деструктор класса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4411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User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string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$name;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$email;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function __construct($name,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$age)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$this-&gt;name =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$name;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$this-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&gt;email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$age;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Пользователь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создан: 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name\n";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function __destruct()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Пользователь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удалён: 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this-&gt;name\n";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74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Конструктор </a:t>
            </a:r>
            <a:r>
              <a:rPr lang="en-US" b="1" dirty="0" smtClean="0"/>
              <a:t>PHP 8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User {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function __</a:t>
            </a:r>
            <a:r>
              <a:rPr lang="en-US" sz="26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construct(</a:t>
            </a:r>
          </a:p>
          <a:p>
            <a:pPr marL="914400" lvl="2" indent="0">
              <a:buNone/>
            </a:pPr>
            <a:r>
              <a:rPr lang="en-US" sz="26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string $name</a:t>
            </a:r>
            <a:r>
              <a:rPr lang="en-US" sz="2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endParaRPr lang="en-US" sz="2600" dirty="0" smtClean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r>
              <a:rPr lang="en-US" sz="26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sz="2600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6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$email</a:t>
            </a:r>
          </a:p>
          <a:p>
            <a:pPr marL="914400" lvl="2" indent="0">
              <a:buNone/>
            </a:pPr>
            <a:r>
              <a:rPr lang="en-US" sz="2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 {}</a:t>
            </a:r>
            <a:endParaRPr lang="en-US" sz="2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49329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Наследование </a:t>
            </a:r>
            <a:r>
              <a:rPr lang="en-US" b="1" dirty="0" smtClean="0"/>
              <a:t>extends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User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код с предыдущих слайдов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Student 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 User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function learn()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Я учусь!";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student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new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Student("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Олег", 18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$student -&gt;greet();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Привет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я </a:t>
            </a:r>
            <a:r>
              <a:rPr lang="ru-RU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Олег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$student 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-&gt;learn();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Я учусь</a:t>
            </a:r>
            <a:endParaRPr lang="ru-RU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48545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Переопределение </a:t>
            </a:r>
            <a:r>
              <a:rPr lang="ru-RU" b="1" dirty="0" err="1" smtClean="0"/>
              <a:t>конструтора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457200" lvl="1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 group;</a:t>
            </a:r>
          </a:p>
          <a:p>
            <a:pPr marL="457200" lvl="1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__construct($name, $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$group)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parent::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construct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$name, $age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$this-&gt;group = $group;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2921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Модификаторы </a:t>
            </a:r>
            <a:r>
              <a:rPr lang="ru-RU" b="1" dirty="0" smtClean="0"/>
              <a:t>доступа (инкапсуляция)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err="1" smtClean="0"/>
              <a:t>public</a:t>
            </a:r>
            <a:r>
              <a:rPr lang="ru-RU" dirty="0" smtClean="0"/>
              <a:t> — доступ </a:t>
            </a:r>
            <a:r>
              <a:rPr lang="ru-RU" dirty="0" smtClean="0"/>
              <a:t>из любого места</a:t>
            </a:r>
            <a:endParaRPr lang="ru-RU" dirty="0" smtClean="0"/>
          </a:p>
          <a:p>
            <a:pPr marL="0" indent="0">
              <a:buNone/>
            </a:pPr>
            <a:r>
              <a:rPr lang="ru-RU" dirty="0" err="1" smtClean="0"/>
              <a:t>protected</a:t>
            </a:r>
            <a:r>
              <a:rPr lang="ru-RU" dirty="0" smtClean="0"/>
              <a:t> — только внутри класса и </a:t>
            </a:r>
            <a:r>
              <a:rPr lang="ru-RU" dirty="0" smtClean="0"/>
              <a:t>наследниках</a:t>
            </a:r>
            <a:endParaRPr lang="ru-RU" dirty="0" smtClean="0"/>
          </a:p>
          <a:p>
            <a:pPr marL="0" indent="0">
              <a:buNone/>
            </a:pPr>
            <a:r>
              <a:rPr lang="ru-RU" dirty="0" err="1" smtClean="0"/>
              <a:t>private</a:t>
            </a:r>
            <a:r>
              <a:rPr lang="ru-RU" dirty="0" smtClean="0"/>
              <a:t> — только внутри класса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861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Геттеры и сеттеры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User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string group;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function 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setGroup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($value):void</a:t>
            </a: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$this-&gt;group = $value;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89535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 function 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getGroup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():string</a:t>
            </a: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return $this-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group;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9535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6622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 smtClean="0"/>
              <a:t>Абстрактктный</a:t>
            </a:r>
            <a:r>
              <a:rPr lang="ru-RU" b="1" dirty="0" smtClean="0"/>
              <a:t> класс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abstract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class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//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код с предыдущих слайдов</a:t>
            </a: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user1 = new User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(…);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//error</a:t>
            </a:r>
            <a:endParaRPr lang="en-US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464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Абстрактные методы (абстракция) 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abstract class User{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//…</a:t>
            </a:r>
            <a:endParaRPr lang="ru-R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//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Обязательно реализовать в 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наследнике</a:t>
            </a: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abstract public function live(){}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//…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 live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Я - живой!";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32214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Полиморфизм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79418"/>
            <a:ext cx="10515600" cy="4987637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abstract class User{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abstract public function 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whoIs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(){}</a:t>
            </a:r>
            <a:endParaRPr lang="ru-RU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public 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whoIs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return 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студент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Teacher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extends User 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 public 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whoIs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учитель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20096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Цепочка методов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0" indent="0">
              <a:buNone/>
            </a:pPr>
            <a:r>
              <a:rPr lang="en-US" sz="59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public </a:t>
            </a: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array $marks = []</a:t>
            </a:r>
          </a:p>
          <a:p>
            <a:pPr marL="0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59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5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59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 $mark): self</a:t>
            </a:r>
          </a:p>
          <a:p>
            <a:pPr marL="457200" lvl="1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457200" lvl="1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$this-&gt;marks[] = $mark;</a:t>
            </a:r>
          </a:p>
          <a:p>
            <a:pPr marL="457200" lvl="1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return $this;</a:t>
            </a:r>
          </a:p>
          <a:p>
            <a:pPr marL="457200" lvl="1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sz="59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  <a:r>
              <a:rPr lang="en-US" sz="59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ru-RU" sz="59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59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5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9105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Цепочка методов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468582"/>
            <a:ext cx="10515600" cy="501534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0" indent="0">
              <a:buNone/>
            </a:pPr>
            <a:r>
              <a:rPr lang="en-US" sz="9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  <a:endParaRPr lang="en-US" sz="9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sz="9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public 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resultMark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(): string</a:t>
            </a:r>
          </a:p>
          <a:p>
            <a:pPr marL="457200" lvl="1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457200" lvl="1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$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array_sum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($this-&gt;marks) / count($this-&gt;marks);    </a:t>
            </a:r>
          </a:p>
          <a:p>
            <a:pPr marL="457200" lvl="1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$result = match (true) {</a:t>
            </a:r>
          </a:p>
          <a:p>
            <a:pPr marL="457200" lvl="1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 &lt; 3 =&gt; "</a:t>
            </a: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неуд",</a:t>
            </a:r>
          </a:p>
          <a:p>
            <a:pPr marL="457200" lvl="1" indent="0">
              <a:buNone/>
            </a:pP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 &lt; 3.5 =&gt; "</a:t>
            </a:r>
            <a:r>
              <a:rPr lang="ru-RU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удовл</a:t>
            </a: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457200" lvl="1" indent="0">
              <a:buNone/>
            </a:pP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 &lt; 4.5 =&gt; "</a:t>
            </a: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хорошо",</a:t>
            </a:r>
          </a:p>
          <a:p>
            <a:pPr marL="457200" lvl="1" indent="0">
              <a:buNone/>
            </a:pP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9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 &gt;= 4.5 =&gt; "</a:t>
            </a: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отлично",</a:t>
            </a:r>
          </a:p>
          <a:p>
            <a:pPr marL="457200" lvl="1" indent="0">
              <a:buNone/>
            </a:pP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};</a:t>
            </a:r>
          </a:p>
          <a:p>
            <a:pPr marL="457200" lvl="1" indent="0">
              <a:buNone/>
            </a:pPr>
            <a:r>
              <a:rPr lang="ru-RU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return $result;</a:t>
            </a:r>
          </a:p>
          <a:p>
            <a:pPr marL="457200" lvl="1" indent="0">
              <a:buNone/>
            </a:pP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sz="9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9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ru-RU" sz="9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9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9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44108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Цепочка методов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$student1 = new Student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Олег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 23);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$student1-&gt;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($student1-&gt;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resultMark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print_r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student1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-&gt;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-&gt;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-&gt;</a:t>
            </a:r>
            <a:r>
              <a:rPr lang="en-US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-&gt;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addMark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(3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-&gt;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resultMark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lang="ru-RU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768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Read-only </a:t>
            </a:r>
            <a:r>
              <a:rPr lang="ru-RU" b="1" dirty="0" smtClean="0"/>
              <a:t>свойство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Student extends User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en-US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$nick;</a:t>
            </a:r>
            <a:endParaRPr lang="en-US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function __construct(string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$nick)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$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this-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&gt;nick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$nick;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$student1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new </a:t>
            </a:r>
            <a:r>
              <a:rPr lang="ru-R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Ыегвуте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Ник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var_dump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($test-&gt;prop); // string(6)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Ник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688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Константы классов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class Student extends User {</a:t>
            </a:r>
          </a:p>
          <a:p>
            <a:pPr marL="0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US" sz="8000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ru-RU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FIVE </a:t>
            </a:r>
            <a:r>
              <a:rPr lang="en-US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4.5;</a:t>
            </a:r>
          </a:p>
          <a:p>
            <a:pPr marL="0" indent="0">
              <a:buNone/>
            </a:pP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public </a:t>
            </a:r>
            <a:r>
              <a:rPr lang="en-US" sz="8000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ru-RU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FOUR </a:t>
            </a:r>
            <a:r>
              <a:rPr lang="en-US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3.5;</a:t>
            </a:r>
          </a:p>
          <a:p>
            <a:pPr marL="0" indent="0">
              <a:buNone/>
            </a:pP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public </a:t>
            </a:r>
            <a:r>
              <a:rPr lang="en-US" sz="8000" dirty="0" err="1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ru-RU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THREE </a:t>
            </a:r>
            <a:r>
              <a:rPr lang="en-US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3;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/>
            </a:r>
            <a:b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	public function 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resultMark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(): string</a:t>
            </a:r>
          </a:p>
          <a:p>
            <a:pPr marL="457200" lvl="1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457200" lvl="1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$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array_sum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($this-&gt;marks) / count($this-&gt;marks);    </a:t>
            </a:r>
          </a:p>
          <a:p>
            <a:pPr marL="457200" lvl="1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$result = match (true) {</a:t>
            </a:r>
          </a:p>
          <a:p>
            <a:pPr marL="457200" lvl="1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self::THREE 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=&gt; "</a:t>
            </a: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неуд",</a:t>
            </a:r>
          </a:p>
          <a:p>
            <a:pPr marL="457200" lvl="1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::FOUR 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=&gt; "</a:t>
            </a:r>
            <a:r>
              <a:rPr lang="ru-RU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удовл</a:t>
            </a: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457200" lvl="1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sz="8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::FIVE 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=&gt; "</a:t>
            </a: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хорошо",</a:t>
            </a:r>
          </a:p>
          <a:p>
            <a:pPr marL="457200" lvl="1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    $</a:t>
            </a:r>
            <a:r>
              <a:rPr lang="en-US" sz="8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8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sz="8000" dirty="0" smtClean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self::FIVE 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=&gt; "</a:t>
            </a: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отлично",</a:t>
            </a:r>
          </a:p>
          <a:p>
            <a:pPr marL="457200" lvl="1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};</a:t>
            </a:r>
          </a:p>
          <a:p>
            <a:pPr marL="457200" lvl="1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return $result;</a:t>
            </a:r>
          </a:p>
          <a:p>
            <a:pPr marL="457200" lvl="1" indent="0">
              <a:buNone/>
            </a:pPr>
            <a:r>
              <a:rPr lang="en-US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    }	</a:t>
            </a:r>
            <a:endParaRPr lang="ru-RU" sz="8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8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8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1752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https://code.mu/ru/php/book/oop</a:t>
            </a:r>
            <a:r>
              <a:rPr lang="en-US" dirty="0" smtClean="0">
                <a:hlinkClick r:id="rId2"/>
              </a:rPr>
              <a:t>/</a:t>
            </a:r>
            <a:r>
              <a:rPr lang="ru-RU" dirty="0" smtClean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1263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481</Words>
  <Application>Microsoft Office PowerPoint</Application>
  <PresentationFormat>Широкоэкранный</PresentationFormat>
  <Paragraphs>206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Courier New</vt:lpstr>
      <vt:lpstr>Тема Office</vt:lpstr>
      <vt:lpstr>Объектно-ориентированное программирование PHP</vt:lpstr>
      <vt:lpstr>Принципы ООП</vt:lpstr>
      <vt:lpstr>Заготовка приложения</vt:lpstr>
      <vt:lpstr>Заготовка приложения</vt:lpstr>
      <vt:lpstr>Заготовка приложения</vt:lpstr>
      <vt:lpstr>Конструктор и деструктор класса</vt:lpstr>
      <vt:lpstr>Конструктор PHP 8</vt:lpstr>
      <vt:lpstr>Наследование extends</vt:lpstr>
      <vt:lpstr>Переопределение конструтора</vt:lpstr>
      <vt:lpstr>Модификаторы доступа (инкапсуляция)</vt:lpstr>
      <vt:lpstr>Геттеры и сеттеры</vt:lpstr>
      <vt:lpstr>Абстрактктный класс</vt:lpstr>
      <vt:lpstr>Абстрактные методы (абстракция) </vt:lpstr>
      <vt:lpstr>Полиморфизм</vt:lpstr>
      <vt:lpstr>Цепочка методов</vt:lpstr>
      <vt:lpstr>Цепочка методов</vt:lpstr>
      <vt:lpstr>Цепочка методов</vt:lpstr>
      <vt:lpstr>Read-only свойство</vt:lpstr>
      <vt:lpstr>Константы классов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Lector</dc:creator>
  <cp:lastModifiedBy>julia</cp:lastModifiedBy>
  <cp:revision>24</cp:revision>
  <dcterms:created xsi:type="dcterms:W3CDTF">2026-02-06T09:27:05Z</dcterms:created>
  <dcterms:modified xsi:type="dcterms:W3CDTF">2026-02-06T15:57:12Z</dcterms:modified>
</cp:coreProperties>
</file>